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ptos"/>
              </a:rPr>
              <a:t>UEISENSE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7498079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0F172A"/>
                </a:solidFill>
                <a:latin typeface="Aptos"/>
              </a:rPr>
              <a:t>From patient story
to clinician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54680"/>
            <a:ext cx="71323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Aptos"/>
              </a:rPr>
              <a:t>End-to-end workflow of the neuro-fuzzy uveitis screening and doctor review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051560"/>
            <a:ext cx="30632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83879" y="1051560"/>
            <a:ext cx="73152" cy="4343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25272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The 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645919"/>
            <a:ext cx="265176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tos"/>
              </a:rPr>
              <a:t>Capture structured clinical context, combine interpretable fuzzy indices with a learned probability, then keep the clinician in control of imaging disclosure and final diagnosis.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892040"/>
            <a:ext cx="114300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965192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INTAKE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0" y="4892040"/>
            <a:ext cx="1325880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57400" y="4965192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AI SCREEN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4892040"/>
            <a:ext cx="1600200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4965192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DOCTOR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4892040"/>
            <a:ext cx="1325880" cy="34747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4965192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FINAL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37960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UEISENSE  |  WORKFLOW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6B6D4"/>
                </a:solidFill>
                <a:latin typeface="Aptos"/>
              </a:rPr>
              <a:t>01 / SYSTEM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The workflow at a glance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5564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1  Patient 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Six guided sections
autosaved locally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49039" y="2267712"/>
            <a:ext cx="502921" cy="0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434840" y="1554480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554480"/>
            <a:ext cx="73152" cy="1417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75564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2  Payload adapter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48840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UI fields become
model-ready keys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98079" y="2267712"/>
            <a:ext cx="502921" cy="0"/>
          </a:xfrm>
          <a:prstGeom prst="line">
            <a:avLst/>
          </a:prstGeom>
          <a:ln w="2794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83879" y="1554480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554480"/>
            <a:ext cx="73152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75564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3  Screening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48840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Fuzzy indices +
Random Forest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03320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703320"/>
            <a:ext cx="73152" cy="1417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904487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4  Clinician queue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97680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Risk-tiered cases
await review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416552"/>
            <a:ext cx="502921" cy="0"/>
          </a:xfrm>
          <a:prstGeom prst="line">
            <a:avLst/>
          </a:prstGeom>
          <a:ln w="2794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434840" y="3703320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3703320"/>
            <a:ext cx="73152" cy="1417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3904487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5  Imaging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297680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Upload, preprocess,
keep CNN sealed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498079" y="4416552"/>
            <a:ext cx="502921" cy="0"/>
          </a:xfrm>
          <a:prstGeom prst="line">
            <a:avLst/>
          </a:prstGeom>
          <a:ln w="279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83879" y="3703320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3703320"/>
            <a:ext cx="73152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3904487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6 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297680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Reveal, weigh,
validate 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8064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The design is staged: the system supports the doctor without letting an unseen image model anchor the preliminary assessment.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37960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UEISENSE  |  WORKFLOW OVERVIEW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02 / PATIENT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Patient intake is structured, progressive, and recoverable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50292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9903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39903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Profile &amp; demographics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54880" y="1490472"/>
            <a:ext cx="914400" cy="0"/>
          </a:xfrm>
          <a:prstGeom prst="line">
            <a:avLst/>
          </a:prstGeom>
          <a:ln w="279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97880" y="1399032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Age, sex, laterality, onset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984248"/>
            <a:ext cx="50292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0574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05740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Primary eye symptoms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0" y="2148840"/>
            <a:ext cx="914400" cy="0"/>
          </a:xfrm>
          <a:prstGeom prst="line">
            <a:avLst/>
          </a:prstGeom>
          <a:ln w="279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97880" y="2057400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Pain, redness, photophobia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642615"/>
            <a:ext cx="50292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1576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715768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Visual disturbances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54880" y="2807208"/>
            <a:ext cx="914400" cy="0"/>
          </a:xfrm>
          <a:prstGeom prst="line">
            <a:avLst/>
          </a:prstGeom>
          <a:ln w="279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97880" y="2715768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Floaters, scotoma, distortion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300984"/>
            <a:ext cx="502920" cy="3474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374136"/>
            <a:ext cx="502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37413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Eye history &amp; recurrence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754880" y="3465576"/>
            <a:ext cx="914400" cy="0"/>
          </a:xfrm>
          <a:prstGeom prst="line">
            <a:avLst/>
          </a:prstGeom>
          <a:ln w="279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897880" y="3374136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Prior episodes and procedures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959352"/>
            <a:ext cx="502920" cy="3474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032504"/>
            <a:ext cx="502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032504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Systemic health &amp; medications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754880" y="4123944"/>
            <a:ext cx="914400" cy="0"/>
          </a:xfrm>
          <a:prstGeom prst="line">
            <a:avLst/>
          </a:prstGeom>
          <a:ln w="279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897880" y="4032504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Autoimmune, infection, medication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617720"/>
            <a:ext cx="502920" cy="3474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69087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69087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Lifestyle &amp; exposure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754880" y="4782312"/>
            <a:ext cx="914400" cy="0"/>
          </a:xfrm>
          <a:prstGeom prst="line">
            <a:avLst/>
          </a:prstGeom>
          <a:ln w="279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897880" y="4690872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Occupation, pets, environment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532120"/>
            <a:ext cx="4892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" y="5532120"/>
            <a:ext cx="73152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33288"/>
            <a:ext cx="44805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Resilience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6126480"/>
            <a:ext cx="4480559" cy="-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Drafts persist in localStorage under a versioned key and clear after a successful submission.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89320" y="5532120"/>
            <a:ext cx="5212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89320" y="5532120"/>
            <a:ext cx="73152" cy="6583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573328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Guardrails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6126480"/>
            <a:ext cx="4800600" cy="-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Each section validates before navigation; final submission validates again before inference.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537960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UEISENSE  |  WORKFLOW OVERVIEW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6B6D4"/>
                </a:solidFill>
                <a:latin typeface="Aptos"/>
              </a:rPr>
              <a:t>03 /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A compatibility adapter protects the model contract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8346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4251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React form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24231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Human-friendly fields
• photophobia_impact
• subjective_visual_disturbance
• systemic_disease_types
• infection_types
• previous_uveitis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94760" y="3474720"/>
            <a:ext cx="777240" cy="0"/>
          </a:xfrm>
          <a:prstGeom prst="line">
            <a:avLst/>
          </a:prstGeom>
          <a:ln w="2794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09160" y="1417320"/>
            <a:ext cx="28346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09160" y="1417320"/>
            <a:ext cx="73152" cy="4251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61848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buildLegacyPayload()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011680"/>
            <a:ext cx="24231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Normalizes values
• Likert labels -&gt; 0–10
• Yes / Maybe / No -&gt; 1 / 0.5 / 0
• arrays -&gt; disease flags
• UI names -&gt; backend keys
• safe defaults for legacy fields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0" y="3474720"/>
            <a:ext cx="777240" cy="0"/>
          </a:xfrm>
          <a:prstGeom prst="line">
            <a:avLst/>
          </a:prstGeom>
          <a:ln w="2794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86800" y="1417320"/>
            <a:ext cx="27889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0" y="1417320"/>
            <a:ext cx="73152" cy="4251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1618488"/>
            <a:ext cx="23774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Model payload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011680"/>
            <a:ext cx="2377439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Stable feature vocabulary
• pain_score
• redness_score
• autoimmune_disease
• tuberculosis / syphilis
• episode_count
• onset_type
This keeps a changing UI compatible with the trained pipeline.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37960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UEISENSE  |  WORKFLOW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ptos"/>
              </a:rPr>
              <a:t>04 / PYTHON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The screening engine combines interpretable signals with learned probability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1546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73152" cy="4343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1  Fuzzy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27432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Aptos"/>
              </a:rPr>
              <a:t>Six normalized indices (0–1):
Inflammation
Visual impairment
Autoimmune risk
Infectious risk
Recurrence
Urgency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9080" y="3429000"/>
            <a:ext cx="548640" cy="0"/>
          </a:xfrm>
          <a:prstGeom prst="line">
            <a:avLst/>
          </a:prstGeom>
          <a:ln w="2794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800600" y="1325880"/>
            <a:ext cx="31546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00600" y="1325880"/>
            <a:ext cx="73152" cy="434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527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2  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920240"/>
            <a:ext cx="27432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The trained pipeline preprocesses numeric and categorical features, then returns the positive-class uveitis probability.
The model loads a persisted artifact or trains once from the repository dataset.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38160" y="3429000"/>
            <a:ext cx="502920" cy="0"/>
          </a:xfrm>
          <a:prstGeom prst="line">
            <a:avLst/>
          </a:prstGeom>
          <a:ln w="2794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823960" y="1325880"/>
            <a:ext cx="26517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23960" y="1325880"/>
            <a:ext cx="73152" cy="4343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527048"/>
            <a:ext cx="22402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3  Safety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920240"/>
            <a:ext cx="2240279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Severity combines clinical indices.
Risk tier uses probability, inflammation, and urgency.
High urgency or the recurrence + visual combination can force referral.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97880"/>
            <a:ext cx="10424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Output: uveitis_probability  |  severity_class  |  clinical_risk  |  fuzzy_indices  |  explanation[]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UEISENSE  |  WORKFLOW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Aptos"/>
              </a:rPr>
              <a:t>05 / RUNTIME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Two service layers separate persistence from inference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2743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4434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React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233172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Routes:
/ questionnaire
/ doctor/queue
/ doctor/patient/:id/...
API client namespaces:
patients, questionnaire, assessments, imaging, review, diagnosis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11880" y="3520440"/>
            <a:ext cx="685800" cy="0"/>
          </a:xfrm>
          <a:prstGeom prst="line">
            <a:avLst/>
          </a:prstGeom>
          <a:ln w="2794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480560" y="1325880"/>
            <a:ext cx="2971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325880"/>
            <a:ext cx="73152" cy="4434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52704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Node / Express + 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1920240"/>
            <a:ext cx="256032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System of record for:
patients
questionnaire answers
neuro-fuzzy results
assessments
imaging sessions
CNN results
final review
diagnoses
audit log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35240" y="3520440"/>
            <a:ext cx="685800" cy="0"/>
          </a:xfrm>
          <a:prstGeom prst="line">
            <a:avLst/>
          </a:prstGeom>
          <a:ln w="2794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503920" y="1325880"/>
            <a:ext cx="2971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325880"/>
            <a:ext cx="73152" cy="4434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152704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Python / FastAPI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1920240"/>
            <a:ext cx="256032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POST /predict
POST /predict-image
The Node service proxies /api/predict to FastAPI; the questionnaire currently calls the screening route directly through the frontend proxy path.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37960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UEISENSE  |  WORKFLOW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Aptos"/>
              </a:rPr>
              <a:t>06 / CLINICIAN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The doctor starts from a risk-tiered queue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108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73152" cy="4526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26974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Queue 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2697479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Patients are loaded from /api/patients with filters for risk, status, and search.
Stats summarize total queue, high-risk cases, awaiting photos, and completed diagnoses.
If the DB is offline, the UI falls back to demo patients.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325880"/>
            <a:ext cx="3108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325880"/>
            <a:ext cx="73152" cy="4526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527048"/>
            <a:ext cx="26974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Triage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20240"/>
            <a:ext cx="2697479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Each row exposes:
• uveitis probability
• urgency index
• severity class
• affected eye
• onset and symptom timing
• slit-lamp status
This prioritizes attention before opening a case.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325880"/>
            <a:ext cx="3108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325880"/>
            <a:ext cx="73152" cy="4526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527048"/>
            <a:ext cx="26974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Case handoff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920240"/>
            <a:ext cx="2697479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Selecting a patient opens a layered route:
Dashboard -&gt; Imaging -&gt; Final Review -&gt; Diagnosis
The progress stepper makes the case state visible as the doctor advances.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37960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UEISENSE  |  WORKFLOW 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D97706"/>
                </a:solidFill>
                <a:latin typeface="Aptos"/>
              </a:rPr>
              <a:t>07 / HUMAN-IN-THE-LOOP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The review gate reduces premature anchoring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Doctor sees questionnaire evidence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344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Doctor records a preliminary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2344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AI image results are revealed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1874519"/>
            <a:ext cx="2743200" cy="2743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20" y="1874519"/>
            <a:ext cx="2743200" cy="2743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66760" y="1874519"/>
            <a:ext cx="2743200" cy="2743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657600" y="3246120"/>
            <a:ext cx="777240" cy="0"/>
          </a:xfrm>
          <a:prstGeom prst="line">
            <a:avLst/>
          </a:prstGeom>
          <a:ln w="279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06640" y="3246120"/>
            <a:ext cx="777239" cy="0"/>
          </a:xfrm>
          <a:prstGeom prst="line">
            <a:avLst/>
          </a:prstGeom>
          <a:ln w="279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234440" y="2743200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2563EB"/>
                </a:solidFill>
                <a:latin typeface="Aptos"/>
              </a:rPr>
              <a:t>Q&amp;A + fuzzy indices
+ explainability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743200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059669"/>
                </a:solidFill>
                <a:latin typeface="Aptos"/>
              </a:rPr>
              <a:t>Diagnosis, confidence,
agreement,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743200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7C3AED"/>
                </a:solidFill>
                <a:latin typeface="Aptos"/>
              </a:rPr>
              <a:t>CNN findings +
overlay boxes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The Node API stores CNN results with revealed = 0 and returns them only after /final-review/reveal.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37960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UEISENSE  |  WORKFLOW 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ptos"/>
              </a:rPr>
              <a:t>08 / IMAGE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Imaging is uploaded, preprocessed, and kept sealed until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920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73152" cy="2423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508760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Multer stores image
under server/uploads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06040" y="3017520"/>
            <a:ext cx="228600" cy="0"/>
          </a:xfrm>
          <a:prstGeom prst="line">
            <a:avLst/>
          </a:prstGeom>
          <a:ln w="279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80" y="1828800"/>
            <a:ext cx="1920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0" y="1828800"/>
            <a:ext cx="73152" cy="2423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2029968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PREPROCESS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423160"/>
            <a:ext cx="1508760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Denoise, normalize,
enhance, quality-check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46320" y="3017520"/>
            <a:ext cx="228600" cy="0"/>
          </a:xfrm>
          <a:prstGeom prst="line">
            <a:avLst/>
          </a:prstGeom>
          <a:ln w="279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66360" y="1828800"/>
            <a:ext cx="1920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66360" y="1828800"/>
            <a:ext cx="73152" cy="2423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2029968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CLASSIFY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423160"/>
            <a:ext cx="1508760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ViT image model
returns disease classes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86600" y="3017520"/>
            <a:ext cx="228600" cy="0"/>
          </a:xfrm>
          <a:prstGeom prst="line">
            <a:avLst/>
          </a:prstGeom>
          <a:ln w="279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06640" y="1828800"/>
            <a:ext cx="1920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1828800"/>
            <a:ext cx="73152" cy="2423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2029968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SEAL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423160"/>
            <a:ext cx="1508760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CNN result and
overlays remain hidden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26880" y="3017520"/>
            <a:ext cx="228600" cy="0"/>
          </a:xfrm>
          <a:prstGeom prst="line">
            <a:avLst/>
          </a:prstGeom>
          <a:ln w="279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46920" y="1828800"/>
            <a:ext cx="1920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46920" y="1828800"/>
            <a:ext cx="73152" cy="2423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2029968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REVEAL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423160"/>
            <a:ext cx="1508760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Doctor action unseals
results for comparison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1560" y="4892040"/>
            <a:ext cx="9966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51560" y="4892040"/>
            <a:ext cx="73152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5093207"/>
            <a:ext cx="9555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Image model 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486400"/>
            <a:ext cx="9555480" cy="91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Aptos"/>
              </a:rPr>
              <a:t>probable_disease + confidence + class_probabilities + model name (best_model.pth)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37960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UEISENSE  |  WORKFLOW OVERVIEW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Aptos"/>
              </a:rPr>
              <a:t>09 / 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Final diagnosis turns three perspectives into an actionable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154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73152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Questionnaire AI  |  35%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2743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Aptos"/>
              </a:rPr>
              <a:t>Clinical history and fuzzy indices
Probability, severity, urgency, recurrence, and explanation statements.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371600"/>
            <a:ext cx="3154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371600"/>
            <a:ext cx="73152" cy="4389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5727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Image CNN  |  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65960"/>
            <a:ext cx="2743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Aptos"/>
              </a:rPr>
              <a:t>Observed image evidence
Disease class, confidence, cells, flare, KPs, pupil response, and overlays.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371600"/>
            <a:ext cx="3154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371600"/>
            <a:ext cx="73152" cy="4389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5727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Doctor assessment  |  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965960"/>
            <a:ext cx="2743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Aptos"/>
              </a:rPr>
              <a:t>Clinical judgment
Diagnosis, severity, confidence, treatment, referrals, follow-up, and notes.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8932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Consensus score = 0.35 × questionnaire + 0.40 × CNN + 0.25 × doctor confidence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37960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UEISENSE  |  WORKFLOW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6B6D4"/>
                </a:solidFill>
                <a:latin typeface="Aptos"/>
              </a:rPr>
              <a:t>10 / OPERATIONAL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What the project delivers at runtime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30352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07592"/>
            <a:ext cx="53035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307592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307592"/>
            <a:ext cx="7406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Vite + React 19, React Router, Framer Motion, Lucide icons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984248"/>
            <a:ext cx="530352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53035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Persistence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057400"/>
            <a:ext cx="7406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Express REST API with SQLite, uploads, and audit logging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734056"/>
            <a:ext cx="530352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07208"/>
            <a:ext cx="53035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807208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Clinical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807208"/>
            <a:ext cx="7406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FastAPI, fuzzy reasoning, Random Forest probability, explanations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83864"/>
            <a:ext cx="530352" cy="34747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557016"/>
            <a:ext cx="53035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557016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Vision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557016"/>
            <a:ext cx="7406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TorchVision ViT image classification with sealed result disclosure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233672"/>
            <a:ext cx="530352" cy="3474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30682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306824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Fallback behavior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306824"/>
            <a:ext cx="7406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Local fuzzy simulation for intake; sample patient data when DB is unavailable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983479"/>
            <a:ext cx="530352" cy="34747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056631"/>
            <a:ext cx="53035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056631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Important boundary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056631"/>
            <a:ext cx="7406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Screening support only; final diagnosis and treatment remain physician-owned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978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The architecture is intentionally transparent: every major inference output is paired with a visible stage, a persistence record, and a clinician decision point.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37960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UEISENSE  |  WORKFLOW OVERVIEW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